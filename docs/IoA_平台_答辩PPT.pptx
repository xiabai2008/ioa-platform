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12191695" cy="18288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29200"/>
            <a:ext cx="12191695" cy="18288"/>
          </a:xfrm>
          <a:prstGeom prst="rect">
            <a:avLst/>
          </a:prstGeom>
          <a:solidFill>
            <a:srgbClr val="FF2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微软雅黑"/>
              </a:defRPr>
            </a:pPr>
            <a:r>
              <a:t>IoA 分布式网络运维协同平台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0">
                <a:solidFill>
                  <a:srgbClr val="00F0FF"/>
                </a:solidFill>
                <a:latin typeface="微软雅黑"/>
              </a:defRPr>
            </a:pPr>
            <a:r>
              <a:t>基于 MCP 协议的多智能体网络故障自愈系统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108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2A0"/>
                </a:solidFill>
                <a:latin typeface="微软雅黑"/>
              </a:defRPr>
            </a:pPr>
            <a:r>
              <a:t>B-EP1  智能体互联网创新攻关赛项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3035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8892A0"/>
                </a:solidFill>
                <a:latin typeface="微软雅黑"/>
              </a:defRPr>
            </a:pPr>
            <a:r>
              <a:t>2026 中国高校计算机大赛 — 网络技术挑战赛</a:t>
            </a:r>
          </a:p>
          <a:p>
            <a:pPr>
              <a:spcAft>
                <a:spcPts val="600"/>
              </a:spcAft>
              <a:defRPr sz="1200" b="0">
                <a:solidFill>
                  <a:srgbClr val="555D6E"/>
                </a:solidFill>
                <a:latin typeface="微软雅黑"/>
              </a:defRPr>
            </a:pPr>
            <a:r>
              <a:t>Python + FastAPI + LangGraph + DeepSeek + MCP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365760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汇报大纲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2A0"/>
                </a:solidFill>
                <a:latin typeface="微软雅黑"/>
              </a:defRPr>
            </a:pPr>
            <a: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2/11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914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0E17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63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项目背景与痛点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28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2A0"/>
                </a:solidFill>
                <a:latin typeface="微软雅黑"/>
              </a:defRPr>
            </a:pPr>
            <a:r>
              <a:t>传统运维为何需要 AI 化改造</a:t>
            </a:r>
          </a:p>
        </p:txBody>
      </p:sp>
      <p:sp>
        <p:nvSpPr>
          <p:cNvPr id="10" name="Oval 9"/>
          <p:cNvSpPr/>
          <p:nvPr/>
        </p:nvSpPr>
        <p:spPr>
          <a:xfrm>
            <a:off x="6400800" y="1508760"/>
            <a:ext cx="457200" cy="457200"/>
          </a:xfrm>
          <a:prstGeom prst="ellipse">
            <a:avLst/>
          </a:prstGeom>
          <a:solidFill>
            <a:srgbClr val="FF2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0E17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463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系统架构总览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828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2A0"/>
                </a:solidFill>
                <a:latin typeface="微软雅黑"/>
              </a:defRPr>
            </a:pPr>
            <a:r>
              <a:t>四层架构 + 9 Agent 集群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697480"/>
            <a:ext cx="457200" cy="457200"/>
          </a:xfrm>
          <a:prstGeom prst="ellipse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0E17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651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MCP 协议落地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017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2A0"/>
                </a:solidFill>
                <a:latin typeface="微软雅黑"/>
              </a:defRPr>
            </a:pPr>
            <a:r>
              <a:t>7 工具 · SSE 传输 · Windows 兼容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0" y="2697480"/>
            <a:ext cx="457200" cy="457200"/>
          </a:xfrm>
          <a:prstGeom prst="ellipse">
            <a:avLst/>
          </a:prstGeom>
          <a:solidFill>
            <a:srgbClr val="FF2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0E17"/>
                </a:solidFill>
                <a:latin typeface="微软雅黑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2651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Agent 协同与 DAG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3017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2A0"/>
                </a:solidFill>
                <a:latin typeface="微软雅黑"/>
              </a:defRPr>
            </a:pPr>
            <a:r>
              <a:t>编排流程 · 调度引擎 · Bandit 路由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0E17"/>
                </a:solidFill>
                <a:latin typeface="微软雅黑"/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差异化修复策略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206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2A0"/>
                </a:solidFill>
                <a:latin typeface="微软雅黑"/>
              </a:defRPr>
            </a:pPr>
            <a:r>
              <a:t>6 种故障 · primary+fallback · 闭环验证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0" y="3886200"/>
            <a:ext cx="457200" cy="457200"/>
          </a:xfrm>
          <a:prstGeom prst="ellipse">
            <a:avLst/>
          </a:prstGeom>
          <a:solidFill>
            <a:srgbClr val="FF2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0E17"/>
                </a:solidFill>
                <a:latin typeface="微软雅黑"/>
              </a:defRPr>
            </a:pPr>
            <a: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3840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界面与测试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206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2A0"/>
                </a:solidFill>
                <a:latin typeface="微软雅黑"/>
              </a:defRPr>
            </a:pPr>
            <a:r>
              <a:t>五面板 Dashboard · 138 用例 · 并发稳定</a:t>
            </a:r>
          </a:p>
        </p:txBody>
      </p:sp>
      <p:sp>
        <p:nvSpPr>
          <p:cNvPr id="25" name="Oval 24"/>
          <p:cNvSpPr/>
          <p:nvPr/>
        </p:nvSpPr>
        <p:spPr>
          <a:xfrm>
            <a:off x="731520" y="5074920"/>
            <a:ext cx="457200" cy="457200"/>
          </a:xfrm>
          <a:prstGeom prst="ellipse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0E17"/>
                </a:solidFill>
                <a:latin typeface="微软雅黑"/>
              </a:defRPr>
            </a:pPr>
            <a: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029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创新点总结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394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2A0"/>
                </a:solidFill>
                <a:latin typeface="微软雅黑"/>
              </a:defRPr>
            </a:pPr>
            <a:r>
              <a:t>五大创新 · 比赛契合度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365760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传统网络运维的三大痛点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2A0"/>
                </a:solidFill>
                <a:latin typeface="微软雅黑"/>
              </a:defRPr>
            </a:pPr>
            <a:r>
              <a:t>为什么需要智能体驱动的运维协同？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2A0"/>
                </a:solidFill>
                <a:latin typeface="微软雅黑"/>
              </a:defRPr>
            </a:pPr>
            <a:r>
              <a:t>3/11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914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474720" cy="3200400"/>
          </a:xfrm>
          <a:prstGeom prst="roundRect">
            <a:avLst>
              <a:gd name="adj" fmla="val 5000"/>
            </a:avLst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3474720" cy="54864"/>
          </a:xfrm>
          <a:prstGeom prst="rect">
            <a:avLst/>
          </a:prstGeom>
          <a:solidFill>
            <a:srgbClr val="FF4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⏱️ 响应延迟高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860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8892A0"/>
                </a:solidFill>
                <a:latin typeface="微软雅黑"/>
              </a:defRPr>
            </a:pPr>
            <a:r>
              <a:t>从告警到修复平均耗时数十分钟</a:t>
            </a:r>
            <a:br/>
            <a:r>
              <a:t>人工跨系统操作，MTTR 居高不下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463040"/>
            <a:ext cx="3474720" cy="3200400"/>
          </a:xfrm>
          <a:prstGeom prst="roundRect">
            <a:avLst>
              <a:gd name="adj" fmla="val 5000"/>
            </a:avLst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1463040"/>
            <a:ext cx="347472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79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🔗 跨域协同难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22860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8892A0"/>
                </a:solidFill>
                <a:latin typeface="微软雅黑"/>
              </a:defRPr>
            </a:pPr>
            <a:r>
              <a:t>4 域网络设备配置异构</a:t>
            </a:r>
            <a:br/>
            <a:r>
              <a:t>排障需反复切换工具，信息孤岛严重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463040"/>
            <a:ext cx="3474720" cy="3200400"/>
          </a:xfrm>
          <a:prstGeom prst="roundRect">
            <a:avLst>
              <a:gd name="adj" fmla="val 5000"/>
            </a:avLst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463040"/>
            <a:ext cx="3474720" cy="54864"/>
          </a:xfrm>
          <a:prstGeom prst="rect">
            <a:avLst/>
          </a:prstGeom>
          <a:solidFill>
            <a:srgbClr val="889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🧠 经验难复用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2860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8892A0"/>
                </a:solidFill>
                <a:latin typeface="微软雅黑"/>
              </a:defRPr>
            </a:pPr>
            <a:r>
              <a:t>运维知识散落在个人脑中</a:t>
            </a:r>
            <a:br/>
            <a:r>
              <a:t>无法沉淀为系统级可调用能力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029200"/>
            <a:ext cx="10698480" cy="1097280"/>
          </a:xfrm>
          <a:prstGeom prst="roundRect">
            <a:avLst>
              <a:gd name="adj" fmla="val 5000"/>
            </a:avLst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212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F0FF"/>
                </a:solidFill>
                <a:latin typeface="微软雅黑"/>
              </a:defRPr>
            </a:pPr>
            <a:r>
              <a:t>→ 核心命题：如何用智能体（Agent）替代人工操作，用标准化协议打通异构系统，实现网络故障全闭环自愈？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365760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系统架构：四层架构 + 九 Agent 集群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2A0"/>
                </a:solidFill>
                <a:latin typeface="微软雅黑"/>
              </a:defRPr>
            </a:pPr>
            <a:r>
              <a:t>Python + FastAPI + LangGraph + DeepSeek + MCP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2A0"/>
                </a:solidFill>
                <a:latin typeface="微软雅黑"/>
              </a:defRPr>
            </a:pPr>
            <a:r>
              <a:t>4/11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914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698480" cy="1097280"/>
          </a:xfrm>
          <a:prstGeom prst="roundRect">
            <a:avLst>
              <a:gd name="adj" fmla="val 5000"/>
            </a:avLst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1645920" cy="109728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A0E17"/>
                </a:solidFill>
                <a:latin typeface="微软雅黑"/>
              </a:defRPr>
            </a:pPr>
            <a:r>
              <a:t>Agent 层</a:t>
            </a:r>
          </a:p>
          <a:p>
            <a:pPr algn="ctr">
              <a:defRPr sz="1000">
                <a:solidFill>
                  <a:srgbClr val="0A0E17"/>
                </a:solidFill>
                <a:latin typeface="微软雅黑"/>
              </a:defRPr>
            </a:pPr>
            <a:r>
              <a:t>9 Agent 集群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50876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2A0"/>
                </a:solidFill>
                <a:latin typeface="微软雅黑"/>
              </a:defRPr>
            </a:pPr>
            <a:r>
              <a:t>• orchestrator ×1    • monitor ×4    • diagnoser ×1    • repairer ×1    • verifier ×1    • reporter ×1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51760"/>
            <a:ext cx="10698480" cy="1097280"/>
          </a:xfrm>
          <a:prstGeom prst="roundRect">
            <a:avLst>
              <a:gd name="adj" fmla="val 5000"/>
            </a:avLst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651760"/>
            <a:ext cx="1645920" cy="1097280"/>
          </a:xfrm>
          <a:prstGeom prst="rect">
            <a:avLst/>
          </a:prstGeom>
          <a:solidFill>
            <a:srgbClr val="FF2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A0E17"/>
                </a:solidFill>
                <a:latin typeface="微软雅黑"/>
              </a:defRPr>
            </a:pPr>
            <a:r>
              <a:t>中间件层</a:t>
            </a:r>
          </a:p>
          <a:p>
            <a:pPr algn="ctr">
              <a:defRPr sz="1000">
                <a:solidFill>
                  <a:srgbClr val="0A0E17"/>
                </a:solidFill>
                <a:latin typeface="微软雅黑"/>
              </a:defRPr>
            </a:pPr>
            <a:r>
              <a:t>IoAP 消息总线 + DAG 调度器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7889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2A0"/>
                </a:solidFill>
                <a:latin typeface="微软雅黑"/>
              </a:defRPr>
            </a:pPr>
            <a:r>
              <a:t>• NL 意图解析 · 模板匹配    • 拓扑排序 · 依赖调度 · retry    • 语义路由 (UCB1 Bandit)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10698480" cy="1097280"/>
          </a:xfrm>
          <a:prstGeom prst="roundRect">
            <a:avLst>
              <a:gd name="adj" fmla="val 5000"/>
            </a:avLst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931920"/>
            <a:ext cx="1645920" cy="109728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A0E17"/>
                </a:solidFill>
                <a:latin typeface="微软雅黑"/>
              </a:defRPr>
            </a:pPr>
            <a:r>
              <a:t>协议层</a:t>
            </a:r>
          </a:p>
          <a:p>
            <a:pPr algn="ctr">
              <a:defRPr sz="1000">
                <a:solidFill>
                  <a:srgbClr val="0A0E17"/>
                </a:solidFill>
                <a:latin typeface="微软雅黑"/>
              </a:defRPr>
            </a:pPr>
            <a:r>
              <a:t>MCP Server (port 9000)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0690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2A0"/>
                </a:solidFill>
                <a:latin typeface="微软雅黑"/>
              </a:defRPr>
            </a:pPr>
            <a:r>
              <a:t>• 7 个标准化工具 · SSE 传输    • A2A Agent-to-Agent 协议    • AutoToolClient 双协议自动降级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212079"/>
            <a:ext cx="10698480" cy="1097280"/>
          </a:xfrm>
          <a:prstGeom prst="roundRect">
            <a:avLst>
              <a:gd name="adj" fmla="val 5000"/>
            </a:avLst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5212079"/>
            <a:ext cx="1645920" cy="1097280"/>
          </a:xfrm>
          <a:prstGeom prst="rect">
            <a:avLst/>
          </a:prstGeom>
          <a:solidFill>
            <a:srgbClr val="FF2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A0E17"/>
                </a:solidFill>
                <a:latin typeface="微软雅黑"/>
              </a:defRPr>
            </a:pPr>
            <a:r>
              <a:t>模拟层</a:t>
            </a:r>
          </a:p>
          <a:p>
            <a:pPr algn="ctr">
              <a:defRPr sz="1000">
                <a:solidFill>
                  <a:srgbClr val="0A0E17"/>
                </a:solidFill>
                <a:latin typeface="微软雅黑"/>
              </a:defRPr>
            </a:pPr>
            <a:r>
              <a:t>Network Simulator (port 8001)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53492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2A0"/>
                </a:solidFill>
                <a:latin typeface="微软雅黑"/>
              </a:defRPr>
            </a:pPr>
            <a:r>
              <a:t>• 4 域拓扑 · 6 种故障注入    • 实时指标生成 · WebSocket 推送    • REST API + 状态管理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1417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F0FF"/>
                </a:solidFill>
                <a:latin typeface="Consolas"/>
              </a:defRPr>
            </a:pPr>
            <a:r>
              <a:t>:8000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2697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F0FF"/>
                </a:solidFill>
                <a:latin typeface="Consolas"/>
              </a:defRPr>
            </a:pPr>
            <a:r>
              <a:t>:8001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97763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F0FF"/>
                </a:solidFill>
                <a:latin typeface="Consolas"/>
              </a:defRPr>
            </a:pPr>
            <a:r>
              <a:t>:9000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5257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F0FF"/>
                </a:solidFill>
                <a:latin typeface="Consolas"/>
              </a:defRPr>
            </a:pPr>
            <a:r>
              <a:t>:GUI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365760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MCP 协议：7 工具 + SSE 传输 + 双协议降级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2A0"/>
                </a:solidFill>
                <a:latin typeface="微软雅黑"/>
              </a:defRPr>
            </a:pPr>
            <a:r>
              <a:t>Model Context Protocol — Agent 与模拟器之间的标准化协议层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2A0"/>
                </a:solidFill>
                <a:latin typeface="微软雅黑"/>
              </a:defRPr>
            </a:pPr>
            <a:r>
              <a:t>5/11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914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303520" cy="4754880"/>
          </a:xfrm>
          <a:prstGeom prst="roundRect">
            <a:avLst>
              <a:gd name="adj" fmla="val 5000"/>
            </a:avLst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0FF"/>
                </a:solidFill>
                <a:latin typeface="微软雅黑"/>
              </a:defRPr>
            </a:pPr>
            <a:r>
              <a:t>MCP Server — 7 个标准化工具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03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onsolas"/>
              </a:defRPr>
            </a:pPr>
            <a:r>
              <a:t>get_metrics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103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2A0"/>
                </a:solidFill>
                <a:latin typeface="微软雅黑"/>
              </a:defRPr>
            </a:pPr>
            <a:r>
              <a:t>单域指标采集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2514600"/>
            <a:ext cx="4572000" cy="4572"/>
          </a:xfrm>
          <a:prstGeom prst="rect">
            <a:avLst/>
          </a:prstGeom>
          <a:solidFill>
            <a:srgbClr val="1E2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6334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onsolas"/>
              </a:defRPr>
            </a:pPr>
            <a:r>
              <a:t>get_all_metrics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6334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2A0"/>
                </a:solidFill>
                <a:latin typeface="微软雅黑"/>
              </a:defRPr>
            </a:pPr>
            <a:r>
              <a:t>全域指标汇总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88720" y="3044952"/>
            <a:ext cx="4572000" cy="4572"/>
          </a:xfrm>
          <a:prstGeom prst="rect">
            <a:avLst/>
          </a:prstGeom>
          <a:solidFill>
            <a:srgbClr val="1E2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316382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onsolas"/>
              </a:defRPr>
            </a:pPr>
            <a:r>
              <a:t>get_topology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16382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2A0"/>
                </a:solidFill>
                <a:latin typeface="微软雅黑"/>
              </a:defRPr>
            </a:pPr>
            <a:r>
              <a:t>拓扑结构查询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88720" y="3575304"/>
            <a:ext cx="4572000" cy="4572"/>
          </a:xfrm>
          <a:prstGeom prst="rect">
            <a:avLst/>
          </a:prstGeom>
          <a:solidFill>
            <a:srgbClr val="1E2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69417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onsolas"/>
              </a:defRPr>
            </a:pPr>
            <a:r>
              <a:t>inject_fault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69417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2A0"/>
                </a:solidFill>
                <a:latin typeface="微软雅黑"/>
              </a:defRPr>
            </a:pPr>
            <a:r>
              <a:t>故障注入 (6 种)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88720" y="4105655"/>
            <a:ext cx="4572000" cy="4572"/>
          </a:xfrm>
          <a:prstGeom prst="rect">
            <a:avLst/>
          </a:prstGeom>
          <a:solidFill>
            <a:srgbClr val="1E2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224527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onsolas"/>
              </a:defRPr>
            </a:pPr>
            <a:r>
              <a:t>clear_fault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4224527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2A0"/>
                </a:solidFill>
                <a:latin typeface="微软雅黑"/>
              </a:defRPr>
            </a:pPr>
            <a:r>
              <a:t>指定故障清除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88720" y="4636007"/>
            <a:ext cx="4572000" cy="4572"/>
          </a:xfrm>
          <a:prstGeom prst="rect">
            <a:avLst/>
          </a:prstGeom>
          <a:solidFill>
            <a:srgbClr val="1E2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47548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onsolas"/>
              </a:defRPr>
            </a:pPr>
            <a:r>
              <a:t>list_faults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47548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2A0"/>
                </a:solidFill>
                <a:latin typeface="微软雅黑"/>
              </a:defRPr>
            </a:pPr>
            <a:r>
              <a:t>活跃故障列表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88720" y="5166359"/>
            <a:ext cx="4572000" cy="4572"/>
          </a:xfrm>
          <a:prstGeom prst="rect">
            <a:avLst/>
          </a:prstGeom>
          <a:solidFill>
            <a:srgbClr val="1E2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5285231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onsolas"/>
              </a:defRPr>
            </a:pPr>
            <a:r>
              <a:t>execute_repair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5285231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92A0"/>
                </a:solidFill>
                <a:latin typeface="微软雅黑"/>
              </a:defRPr>
            </a:pPr>
            <a:r>
              <a:t>修复操作 (5 策略)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1371600"/>
            <a:ext cx="5029200" cy="4754880"/>
          </a:xfrm>
          <a:prstGeom prst="roundRect">
            <a:avLst>
              <a:gd name="adj" fmla="val 5000"/>
            </a:avLst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1508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2E93"/>
                </a:solidFill>
                <a:latin typeface="微软雅黑"/>
              </a:defRPr>
            </a:pPr>
            <a:r>
              <a:t>关键技术点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0116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F0FF"/>
                </a:solidFill>
                <a:latin typeface="微软雅黑"/>
              </a:defRPr>
            </a:pPr>
            <a:r>
              <a:t>SSE 传输模式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233172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8892A0"/>
                </a:solidFill>
                <a:latin typeface="微软雅黑"/>
              </a:defRPr>
            </a:pPr>
            <a:r>
              <a:t>Server-Sent Events 长连接推送</a:t>
            </a:r>
            <a:br/>
            <a:r>
              <a:t>MCP Python SDK 原生支持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063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F0FF"/>
                </a:solidFill>
                <a:latin typeface="微软雅黑"/>
              </a:defRPr>
            </a:pPr>
            <a:r>
              <a:t>双协议自动降级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38328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8892A0"/>
                </a:solidFill>
                <a:latin typeface="微软雅黑"/>
              </a:defRPr>
            </a:pPr>
            <a:r>
              <a:t>AutoToolClient 优先 MCP</a:t>
            </a:r>
            <a:br/>
            <a:r>
              <a:t>不可用时自动回退 HTTP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1148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F0FF"/>
                </a:solidFill>
                <a:latin typeface="微软雅黑"/>
              </a:defRPr>
            </a:pPr>
            <a:r>
              <a:t>Windows 兼容修复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43484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8892A0"/>
                </a:solidFill>
                <a:latin typeface="微软雅黑"/>
              </a:defRPr>
            </a:pPr>
            <a:r>
              <a:t>CRLF → LF 行尾转换</a:t>
            </a:r>
            <a:br/>
            <a:r>
              <a:t>Connection: close 解决 keep-alive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1663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F0FF"/>
                </a:solidFill>
                <a:latin typeface="微软雅黑"/>
              </a:defRPr>
            </a:pPr>
            <a:r>
              <a:t>标准化 JSON-RPC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548640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8892A0"/>
                </a:solidFill>
                <a:latin typeface="微软雅黑"/>
              </a:defRPr>
            </a:pPr>
            <a:r>
              <a:t>符合 MCP 2025-03-26 协议规范</a:t>
            </a:r>
            <a:br/>
            <a:r>
              <a:t>tools/list · tools/call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365760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Agent 协同：从自然语言到全闭环修复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2A0"/>
                </a:solidFill>
                <a:latin typeface="微软雅黑"/>
              </a:defRPr>
            </a:pPr>
            <a:r>
              <a:t>Orchestrator → DAG → Scheduler → Agent → MCP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2A0"/>
                </a:solidFill>
                <a:latin typeface="微软雅黑"/>
              </a:defRPr>
            </a:pPr>
            <a:r>
              <a:t>6/11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914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1737360" cy="2194560"/>
          </a:xfrm>
          <a:prstGeom prst="roundRect">
            <a:avLst>
              <a:gd name="adj" fmla="val 5000"/>
            </a:avLst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45920"/>
            <a:ext cx="1737360" cy="4572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NL 输入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8892A0"/>
                </a:solidFill>
                <a:latin typeface="微软雅黑"/>
              </a:defRPr>
            </a:pPr>
            <a:r>
              <a:t>华东链路拥塞</a:t>
            </a:r>
            <a:br/>
            <a:r>
              <a:t>请全流程修复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12848" y="237744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F0FF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7440" y="1645920"/>
            <a:ext cx="1737360" cy="2194560"/>
          </a:xfrm>
          <a:prstGeom prst="roundRect">
            <a:avLst>
              <a:gd name="adj" fmla="val 5000"/>
            </a:avLst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77440" y="1645920"/>
            <a:ext cx="1737360" cy="4572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68880" y="18288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意图解析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28600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8892A0"/>
                </a:solidFill>
                <a:latin typeface="微软雅黑"/>
              </a:defRPr>
            </a:pPr>
            <a:r>
              <a:t>LLM 提取</a:t>
            </a:r>
            <a:br/>
            <a:r>
              <a:t>域+故障类型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33087" y="237744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F0FF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1645920"/>
            <a:ext cx="1737360" cy="2194560"/>
          </a:xfrm>
          <a:prstGeom prst="roundRect">
            <a:avLst>
              <a:gd name="adj" fmla="val 5000"/>
            </a:avLst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645920"/>
            <a:ext cx="1737360" cy="45720"/>
          </a:xfrm>
          <a:prstGeom prst="rect">
            <a:avLst/>
          </a:prstGeom>
          <a:solidFill>
            <a:srgbClr val="FF2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18288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模板匹配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28600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8892A0"/>
                </a:solidFill>
                <a:latin typeface="微软雅黑"/>
              </a:defRPr>
            </a:pPr>
            <a:r>
              <a:t>full_remediation</a:t>
            </a:r>
            <a:br/>
            <a:r>
              <a:t>5-stage DAG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3328" y="237744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F0FF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645920"/>
            <a:ext cx="1737360" cy="2194560"/>
          </a:xfrm>
          <a:prstGeom prst="roundRect">
            <a:avLst>
              <a:gd name="adj" fmla="val 5000"/>
            </a:avLst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1645920"/>
            <a:ext cx="1737360" cy="45720"/>
          </a:xfrm>
          <a:prstGeom prst="rect">
            <a:avLst/>
          </a:prstGeom>
          <a:solidFill>
            <a:srgbClr val="FF2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18288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DAG 调度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28600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8892A0"/>
                </a:solidFill>
                <a:latin typeface="微软雅黑"/>
              </a:defRPr>
            </a:pPr>
            <a:r>
              <a:t>拓扑排序</a:t>
            </a:r>
            <a:br/>
            <a:r>
              <a:t>依赖+并行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3568" y="237744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F0FF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1645920"/>
            <a:ext cx="1737360" cy="2194560"/>
          </a:xfrm>
          <a:prstGeom prst="roundRect">
            <a:avLst>
              <a:gd name="adj" fmla="val 5000"/>
            </a:avLst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1645920"/>
            <a:ext cx="1737360" cy="4572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18288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Agent 执行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28600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8892A0"/>
                </a:solidFill>
                <a:latin typeface="微软雅黑"/>
              </a:defRPr>
            </a:pPr>
            <a:r>
              <a:t>9 Agent 协同</a:t>
            </a:r>
            <a:br/>
            <a:r>
              <a:t>MCP 工具调用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93808" y="237744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F0FF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0" y="1645920"/>
            <a:ext cx="1737360" cy="2194560"/>
          </a:xfrm>
          <a:prstGeom prst="roundRect">
            <a:avLst>
              <a:gd name="adj" fmla="val 5000"/>
            </a:avLst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58400" y="1645920"/>
            <a:ext cx="1737360" cy="4572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49840" y="18288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闭环验证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49840" y="228600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8892A0"/>
                </a:solidFill>
                <a:latin typeface="微软雅黑"/>
              </a:defRPr>
            </a:pPr>
            <a:r>
              <a:t>Verifier 复检</a:t>
            </a:r>
            <a:br/>
            <a:r>
              <a:t>达标确认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429768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4434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2E93"/>
                </a:solidFill>
                <a:latin typeface="微软雅黑"/>
              </a:defRPr>
            </a:pPr>
            <a:r>
              <a:t>DAG 调度引擎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489204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8892A0"/>
                </a:solidFill>
                <a:latin typeface="微软雅黑"/>
              </a:defRPr>
            </a:pPr>
            <a:r>
              <a:t>• 模板系统：full_remediation / diagnose_only / health_check</a:t>
            </a:r>
          </a:p>
          <a:p>
            <a:pPr>
              <a:spcAft>
                <a:spcPts val="600"/>
              </a:spcAft>
              <a:defRPr sz="1200" b="0">
                <a:solidFill>
                  <a:srgbClr val="8892A0"/>
                </a:solidFill>
                <a:latin typeface="微软雅黑"/>
              </a:defRPr>
            </a:pPr>
            <a:r>
              <a:t>• 拓扑排序：自动解析 depends_on 依赖关系</a:t>
            </a:r>
          </a:p>
          <a:p>
            <a:pPr>
              <a:spcAft>
                <a:spcPts val="600"/>
              </a:spcAft>
              <a:defRPr sz="1200" b="0">
                <a:solidFill>
                  <a:srgbClr val="8892A0"/>
                </a:solidFill>
                <a:latin typeface="微软雅黑"/>
              </a:defRPr>
            </a:pPr>
            <a:r>
              <a:t>• 并行执行：无依赖节点并发调度（如 4 域 monitor 并发）</a:t>
            </a:r>
          </a:p>
          <a:p>
            <a:pPr>
              <a:spcAft>
                <a:spcPts val="600"/>
              </a:spcAft>
              <a:defRPr sz="1200" b="0">
                <a:solidFill>
                  <a:srgbClr val="8892A0"/>
                </a:solidFill>
                <a:latin typeface="微软雅黑"/>
              </a:defRPr>
            </a:pPr>
            <a:r>
              <a:t>• 失败重试：max_retries 机制 + 指数退避</a:t>
            </a:r>
          </a:p>
          <a:p>
            <a:pPr>
              <a:spcAft>
                <a:spcPts val="600"/>
              </a:spcAft>
              <a:defRPr sz="1200" b="0">
                <a:solidFill>
                  <a:srgbClr val="8892A0"/>
                </a:solidFill>
                <a:latin typeface="微软雅黑"/>
              </a:defRPr>
            </a:pPr>
            <a:r>
              <a:t>• 超时控制：per-node timeout_ms（默认 60-120s）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4297680"/>
            <a:ext cx="5029200" cy="2103120"/>
          </a:xfrm>
          <a:prstGeom prst="roundRect">
            <a:avLst>
              <a:gd name="adj" fmla="val 5000"/>
            </a:avLst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4434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0FF"/>
                </a:solidFill>
                <a:latin typeface="微软雅黑"/>
              </a:defRPr>
            </a:pPr>
            <a:r>
              <a:t>Bandit 智能路由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489204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8892A0"/>
                </a:solidFill>
                <a:latin typeface="微软雅黑"/>
              </a:defRPr>
            </a:pPr>
            <a:r>
              <a:t>• UCB1 算法：在线学习各 Agent 执行成功率</a:t>
            </a:r>
          </a:p>
          <a:p>
            <a:pPr>
              <a:spcAft>
                <a:spcPts val="600"/>
              </a:spcAft>
              <a:defRPr sz="1200" b="0">
                <a:solidFill>
                  <a:srgbClr val="8892A0"/>
                </a:solidFill>
                <a:latin typeface="微软雅黑"/>
              </a:defRPr>
            </a:pPr>
            <a:r>
              <a:t>• 探索-利用平衡：新 Agent 获得尝试机会</a:t>
            </a:r>
          </a:p>
          <a:p>
            <a:pPr>
              <a:spcAft>
                <a:spcPts val="600"/>
              </a:spcAft>
              <a:defRPr sz="1200" b="0">
                <a:solidFill>
                  <a:srgbClr val="8892A0"/>
                </a:solidFill>
                <a:latin typeface="微软雅黑"/>
              </a:defRPr>
            </a:pPr>
            <a:r>
              <a:t>• 动态权重：根据历史延迟和成功率自适应调整</a:t>
            </a:r>
          </a:p>
          <a:p>
            <a:pPr>
              <a:spcAft>
                <a:spcPts val="600"/>
              </a:spcAft>
              <a:defRPr sz="1200" b="0">
                <a:solidFill>
                  <a:srgbClr val="8892A0"/>
                </a:solidFill>
                <a:latin typeface="微软雅黑"/>
              </a:defRPr>
            </a:pPr>
            <a:r>
              <a:t>• 跨域路由：同 capability 多实例自动选择最优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365760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差异化修复：6 种故障 × primary + fallback 双策略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2A0"/>
                </a:solidFill>
                <a:latin typeface="微软雅黑"/>
              </a:defRPr>
            </a:pPr>
            <a:r>
              <a:t>六种故障类型全覆盖 + 闭环验证确保真实修复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2A0"/>
                </a:solidFill>
                <a:latin typeface="微软雅黑"/>
              </a:defRPr>
            </a:pPr>
            <a:r>
              <a:t>7/11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914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2011680" cy="41148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898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0E17"/>
                </a:solidFill>
                <a:latin typeface="微软雅黑"/>
              </a:defRPr>
            </a:pPr>
            <a:r>
              <a:t>故障类型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1371600"/>
            <a:ext cx="2194560" cy="41148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1389888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0E17"/>
                </a:solidFill>
                <a:latin typeface="微软雅黑"/>
              </a:defRPr>
            </a:pPr>
            <a:r>
              <a:t>Primary 策略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1371600"/>
            <a:ext cx="2194560" cy="41148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59" y="1389888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0E17"/>
                </a:solidFill>
                <a:latin typeface="微软雅黑"/>
              </a:defRPr>
            </a:pPr>
            <a:r>
              <a:t>Fallback 策略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0" y="1371600"/>
            <a:ext cx="3931920" cy="41148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38988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A0E17"/>
                </a:solidFill>
                <a:latin typeface="微软雅黑"/>
              </a:defRPr>
            </a:pPr>
            <a:r>
              <a:t>策略链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1874519"/>
            <a:ext cx="2011680" cy="566928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94767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link_congestion</a:t>
            </a:r>
            <a:br/>
            <a:r>
              <a:t>(链路拥塞)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1874519"/>
            <a:ext cx="2194560" cy="566928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0" y="1947672"/>
            <a:ext cx="20116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0FF"/>
                </a:solidFill>
                <a:latin typeface="微软雅黑"/>
              </a:defRPr>
            </a:pPr>
            <a:r>
              <a:t>traffic_shape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0" y="1874519"/>
            <a:ext cx="2194560" cy="566928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59" y="1947672"/>
            <a:ext cx="20116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0FF"/>
                </a:solidFill>
                <a:latin typeface="微软雅黑"/>
              </a:defRPr>
            </a:pPr>
            <a:r>
              <a:t>route_switch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0" y="1874519"/>
            <a:ext cx="3931920" cy="566928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1947672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92A0"/>
                </a:solidFill>
                <a:latin typeface="微软雅黑"/>
              </a:defRPr>
            </a:pPr>
            <a:r>
              <a:t>流量整形 → 路由切换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2514600"/>
            <a:ext cx="2011680" cy="566928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258775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link_outage</a:t>
            </a:r>
            <a:br/>
            <a:r>
              <a:t>(链路中断)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2514600"/>
            <a:ext cx="2194560" cy="566928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0" y="2587752"/>
            <a:ext cx="20116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0FF"/>
                </a:solidFill>
                <a:latin typeface="微软雅黑"/>
              </a:defRPr>
            </a:pPr>
            <a:r>
              <a:t>link_failover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0" y="2514600"/>
            <a:ext cx="2194560" cy="566928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94959" y="2587752"/>
            <a:ext cx="20116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0FF"/>
                </a:solidFill>
                <a:latin typeface="微软雅黑"/>
              </a:defRPr>
            </a:pPr>
            <a:r>
              <a:t>route_switch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0960" y="2514600"/>
            <a:ext cx="3931920" cy="566928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0" y="2587752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92A0"/>
                </a:solidFill>
                <a:latin typeface="微软雅黑"/>
              </a:defRPr>
            </a:pPr>
            <a:r>
              <a:t>链路切换 → 备选路由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3154679"/>
            <a:ext cx="2011680" cy="566928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322783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cpu_overload</a:t>
            </a:r>
            <a:br/>
            <a:r>
              <a:t>(CPU 过载)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0" y="3154679"/>
            <a:ext cx="2194560" cy="566928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17520" y="3227832"/>
            <a:ext cx="20116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0FF"/>
                </a:solidFill>
                <a:latin typeface="微软雅黑"/>
              </a:defRPr>
            </a:pPr>
            <a:r>
              <a:t>restart_service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03520" y="3154679"/>
            <a:ext cx="2194560" cy="566928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94959" y="3227832"/>
            <a:ext cx="20116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0FF"/>
                </a:solidFill>
                <a:latin typeface="微软雅黑"/>
              </a:defRPr>
            </a:pPr>
            <a:r>
              <a:t>traffic_shape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80960" y="3154679"/>
            <a:ext cx="3931920" cy="566928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0" y="3227832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92A0"/>
                </a:solidFill>
                <a:latin typeface="微软雅黑"/>
              </a:defRPr>
            </a:pPr>
            <a:r>
              <a:t>服务重启 → 流量限速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3794759"/>
            <a:ext cx="2011680" cy="566928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3867911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ddos</a:t>
            </a:r>
            <a:br/>
            <a:r>
              <a:t>(DDoS 攻击)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26080" y="3794759"/>
            <a:ext cx="2194560" cy="566928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17520" y="3867911"/>
            <a:ext cx="20116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0FF"/>
                </a:solidFill>
                <a:latin typeface="微软雅黑"/>
              </a:defRPr>
            </a:pPr>
            <a:r>
              <a:t>acl_deploy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303520" y="3794759"/>
            <a:ext cx="2194560" cy="566928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94959" y="3867911"/>
            <a:ext cx="20116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0FF"/>
                </a:solidFill>
                <a:latin typeface="微软雅黑"/>
              </a:defRPr>
            </a:pPr>
            <a:r>
              <a:t>traffic_shape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80960" y="3794759"/>
            <a:ext cx="3931920" cy="566928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0" y="3867911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92A0"/>
                </a:solidFill>
                <a:latin typeface="微软雅黑"/>
              </a:defRPr>
            </a:pPr>
            <a:r>
              <a:t>ACL 规则 → 流量整形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" y="4434840"/>
            <a:ext cx="2011680" cy="566928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450799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misconfig</a:t>
            </a:r>
            <a:br/>
            <a:r>
              <a:t>(配置错误)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26080" y="4434840"/>
            <a:ext cx="2194560" cy="566928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017520" y="4507992"/>
            <a:ext cx="20116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0FF"/>
                </a:solidFill>
                <a:latin typeface="微软雅黑"/>
              </a:defRPr>
            </a:pPr>
            <a:r>
              <a:t>restart_service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303520" y="4434840"/>
            <a:ext cx="2194560" cy="566928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94959" y="4507992"/>
            <a:ext cx="20116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0FF"/>
                </a:solidFill>
                <a:latin typeface="微软雅黑"/>
              </a:defRPr>
            </a:pPr>
            <a:r>
              <a:t>traffic_shape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680960" y="4434840"/>
            <a:ext cx="3931920" cy="566928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72400" y="4507992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92A0"/>
                </a:solidFill>
                <a:latin typeface="微软雅黑"/>
              </a:defRPr>
            </a:pPr>
            <a:r>
              <a:t>配置恢复 → 兜底整形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31520" y="5074920"/>
            <a:ext cx="2011680" cy="566928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2960" y="514807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device_failure</a:t>
            </a:r>
            <a:br/>
            <a:r>
              <a:t>(设备故障)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26080" y="5074920"/>
            <a:ext cx="2194560" cy="566928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017520" y="5148072"/>
            <a:ext cx="20116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0FF"/>
                </a:solidFill>
                <a:latin typeface="微软雅黑"/>
              </a:defRPr>
            </a:pPr>
            <a:r>
              <a:t>link_failover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303520" y="5074920"/>
            <a:ext cx="2194560" cy="566928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394959" y="5148072"/>
            <a:ext cx="20116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0FF"/>
                </a:solidFill>
                <a:latin typeface="微软雅黑"/>
              </a:defRPr>
            </a:pPr>
            <a:r>
              <a:t>traffic_shape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680960" y="5074920"/>
            <a:ext cx="3931920" cy="566928"/>
          </a:xfrm>
          <a:prstGeom prst="rect">
            <a:avLst/>
          </a:prstGeom>
          <a:solidFill>
            <a:srgbClr val="16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772400" y="5148072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92A0"/>
                </a:solidFill>
                <a:latin typeface="微软雅黑"/>
              </a:defRPr>
            </a:pPr>
            <a:r>
              <a:t>链路切换 → 流量降级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" y="5806440"/>
            <a:ext cx="10698480" cy="640080"/>
          </a:xfrm>
          <a:prstGeom prst="roundRect">
            <a:avLst>
              <a:gd name="adj" fmla="val 5000"/>
            </a:avLst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5840" y="5897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F0FF"/>
                </a:solidFill>
                <a:latin typeface="微软雅黑"/>
              </a:defRPr>
            </a:pPr>
            <a:r>
              <a:t>🔄 闭环验证：修复完成 → Verifier 复检指标 → 达标 ✓ / 未达标 → 回退 diagnose+repair 重试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365760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GUI 仪表盘：五面板一站式运维指挥中心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2A0"/>
                </a:solidFill>
                <a:latin typeface="微软雅黑"/>
              </a:defRPr>
            </a:pPr>
            <a:r>
              <a:t>拓扑可视化 → 实时指标 → Agent 状态 → DAG 记录 → 消息流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2A0"/>
                </a:solidFill>
                <a:latin typeface="微软雅黑"/>
              </a:defRPr>
            </a:pPr>
            <a:r>
              <a:t>8/11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914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2148840" cy="3200400"/>
          </a:xfrm>
          <a:prstGeom prst="roundRect">
            <a:avLst>
              <a:gd name="adj" fmla="val 5000"/>
            </a:avLst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148840" cy="4572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544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🗺️ 拓扑面板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187451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8892A0"/>
                </a:solidFill>
                <a:latin typeface="微软雅黑"/>
              </a:defRPr>
            </a:pPr>
            <a:r>
              <a:t>vis-network</a:t>
            </a:r>
            <a:br/>
            <a:r>
              <a:t>4 域拓扑实时渲染</a:t>
            </a:r>
            <a:br/>
            <a:r>
              <a:t>故障域颜色标记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371600"/>
            <a:ext cx="2148840" cy="3200400"/>
          </a:xfrm>
          <a:prstGeom prst="roundRect">
            <a:avLst>
              <a:gd name="adj" fmla="val 5000"/>
            </a:avLst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88920" y="1371600"/>
            <a:ext cx="2148840" cy="45720"/>
          </a:xfrm>
          <a:prstGeom prst="rect">
            <a:avLst/>
          </a:prstGeom>
          <a:solidFill>
            <a:srgbClr val="FF2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79" y="15544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📊 指标面板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79" y="2011680"/>
            <a:ext cx="187451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8892A0"/>
                </a:solidFill>
                <a:latin typeface="微软雅黑"/>
              </a:defRPr>
            </a:pPr>
            <a:r>
              <a:t>Chart.js</a:t>
            </a:r>
            <a:br/>
            <a:r>
              <a:t>延迟趋势 + 丢包率</a:t>
            </a:r>
            <a:br/>
            <a:r>
              <a:t>4 域切换查看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1371600"/>
            <a:ext cx="2148840" cy="3200400"/>
          </a:xfrm>
          <a:prstGeom prst="roundRect">
            <a:avLst>
              <a:gd name="adj" fmla="val 5000"/>
            </a:avLst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20640" y="1371600"/>
            <a:ext cx="2148840" cy="4572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57800" y="15544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🤖 Agent 面板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2011680"/>
            <a:ext cx="187451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8892A0"/>
                </a:solidFill>
                <a:latin typeface="微软雅黑"/>
              </a:defRPr>
            </a:pPr>
            <a:r>
              <a:t>9 Agent 状态</a:t>
            </a:r>
            <a:br/>
            <a:r>
              <a:t>在线 + 域归属 +</a:t>
            </a:r>
            <a:br/>
            <a:r>
              <a:t>实时负载监控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59" y="1371600"/>
            <a:ext cx="2148840" cy="3200400"/>
          </a:xfrm>
          <a:prstGeom prst="roundRect">
            <a:avLst>
              <a:gd name="adj" fmla="val 5000"/>
            </a:avLst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52359" y="1371600"/>
            <a:ext cx="2148840" cy="45720"/>
          </a:xfrm>
          <a:prstGeom prst="rect">
            <a:avLst/>
          </a:prstGeom>
          <a:solidFill>
            <a:srgbClr val="FF2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19" y="15544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📋 DAG 面板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19" y="2011680"/>
            <a:ext cx="187451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8892A0"/>
                </a:solidFill>
                <a:latin typeface="微软雅黑"/>
              </a:defRPr>
            </a:pPr>
            <a:r>
              <a:t>执行流程记录</a:t>
            </a:r>
            <a:br/>
            <a:r>
              <a:t>节点展开查看详情</a:t>
            </a:r>
            <a:br/>
            <a:r>
              <a:t>每步耗时追踪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84080" y="1371600"/>
            <a:ext cx="2148840" cy="3200400"/>
          </a:xfrm>
          <a:prstGeom prst="roundRect">
            <a:avLst>
              <a:gd name="adj" fmla="val 5000"/>
            </a:avLst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84080" y="1371600"/>
            <a:ext cx="2148840" cy="4572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21240" y="15544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💬 消息流面板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40" y="2011680"/>
            <a:ext cx="187451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8892A0"/>
                </a:solidFill>
                <a:latin typeface="微软雅黑"/>
              </a:defRPr>
            </a:pPr>
            <a:r>
              <a:t>IoAP 协议交互</a:t>
            </a:r>
            <a:br/>
            <a:r>
              <a:t>实时消息滚动</a:t>
            </a:r>
            <a:br/>
            <a:r>
              <a:t>correlation_id 追踪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937760"/>
            <a:ext cx="10698480" cy="1188720"/>
          </a:xfrm>
          <a:prstGeom prst="roundRect">
            <a:avLst>
              <a:gd name="adj" fmla="val 5000"/>
            </a:avLst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074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2A0"/>
                </a:solidFill>
                <a:latin typeface="微软雅黑"/>
              </a:defRPr>
            </a:pPr>
            <a:r>
              <a:t>设计理念：暗色"指挥中心"风格 · 霓虹粉 #FF2E93 + 青色 #00F0FF 双主色 · Material Icons 图标体系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440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D6E"/>
                </a:solidFill>
                <a:latin typeface="微软雅黑"/>
              </a:defRPr>
            </a:pPr>
            <a:r>
              <a:t>技术栈：原生 JavaScript · vis-network 拓扑图 · Chart.js 指标图 · 全 SPA 单页应用 · 实时 WebSocket 推送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365760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测试覆盖：138 用例 · 并发稳定 · 全链路闭环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2A0"/>
                </a:solidFill>
                <a:latin typeface="微软雅黑"/>
              </a:defRPr>
            </a:pPr>
            <a:r>
              <a:t>pytest · 并发测试 · MCP 协议验证 · 端到端集成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2A0"/>
                </a:solidFill>
                <a:latin typeface="微软雅黑"/>
              </a:defRPr>
            </a:pPr>
            <a:r>
              <a:t>9/11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914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2743200" cy="3931920"/>
          </a:xfrm>
          <a:prstGeom prst="roundRect">
            <a:avLst>
              <a:gd name="adj" fmla="val 5000"/>
            </a:avLst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743200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E676"/>
                </a:solidFill>
                <a:latin typeface="Consolas"/>
              </a:defRPr>
            </a:pPr>
            <a:r>
              <a:t>138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单元 + 集成测试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8892A0"/>
                </a:solidFill>
                <a:latin typeface="微软雅黑"/>
              </a:defRPr>
            </a:pPr>
            <a:r>
              <a:t>pytest 全部通过</a:t>
            </a:r>
            <a:br/>
            <a:r>
              <a:t>19 skipped (playwright)</a:t>
            </a:r>
            <a:br/>
            <a:r>
              <a:t>0 failed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371600"/>
            <a:ext cx="2743200" cy="3931920"/>
          </a:xfrm>
          <a:prstGeom prst="roundRect">
            <a:avLst>
              <a:gd name="adj" fmla="val 5000"/>
            </a:avLst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371600"/>
            <a:ext cx="2743200" cy="5486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16459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F0FF"/>
                </a:solidFill>
                <a:latin typeface="Consolas"/>
              </a:defRPr>
            </a:pPr>
            <a:r>
              <a:t>3/3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651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并发稳定性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2004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8892A0"/>
                </a:solidFill>
                <a:latin typeface="微软雅黑"/>
              </a:defRPr>
            </a:pPr>
            <a:r>
              <a:t>3 域 3 故障并发执行</a:t>
            </a:r>
            <a:br/>
            <a:r>
              <a:t>全部 DAG 完成</a:t>
            </a:r>
            <a:br/>
            <a:r>
              <a:t>无竞态 / 死锁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371600"/>
            <a:ext cx="2743200" cy="3931920"/>
          </a:xfrm>
          <a:prstGeom prst="roundRect">
            <a:avLst>
              <a:gd name="adj" fmla="val 5000"/>
            </a:avLst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371600"/>
            <a:ext cx="2743200" cy="54864"/>
          </a:xfrm>
          <a:prstGeom prst="rect">
            <a:avLst/>
          </a:prstGeom>
          <a:solidFill>
            <a:srgbClr val="FF2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6459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2E93"/>
                </a:solidFill>
                <a:latin typeface="Consolas"/>
              </a:defRPr>
            </a:pPr>
            <a:r>
              <a:t>7/7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651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MCP 协议验证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2004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8892A0"/>
                </a:solidFill>
                <a:latin typeface="微软雅黑"/>
              </a:defRPr>
            </a:pPr>
            <a:r>
              <a:t>7 工具全部可用</a:t>
            </a:r>
            <a:br/>
            <a:r>
              <a:t>SSE + JSON-RPC</a:t>
            </a:r>
            <a:br/>
            <a:r>
              <a:t>Windows 兼容修复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1371600"/>
            <a:ext cx="2743200" cy="3931920"/>
          </a:xfrm>
          <a:prstGeom prst="roundRect">
            <a:avLst>
              <a:gd name="adj" fmla="val 5000"/>
            </a:avLst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35440" y="1371600"/>
            <a:ext cx="2743200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16459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E676"/>
                </a:solidFill>
                <a:latin typeface="Consolas"/>
              </a:defRPr>
            </a:pPr>
            <a:r>
              <a:t>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2651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端到端全链路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320040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8892A0"/>
                </a:solidFill>
                <a:latin typeface="微软雅黑"/>
              </a:defRPr>
            </a:pPr>
            <a:r>
              <a:t>故障注入 → NL → DAG</a:t>
            </a:r>
            <a:br/>
            <a:r>
              <a:t>→ 诊断 → 修复 → 验证</a:t>
            </a:r>
            <a:br/>
            <a:r>
              <a:t>→ 报告 全闭环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92A0"/>
                </a:solidFill>
                <a:latin typeface="微软雅黑"/>
              </a:defRPr>
            </a:pPr>
            <a:r>
              <a:t>稳定性：服务器连续运行无崩溃 · 平均 DAG 执行 8-12 秒 · Node.js --check 语法检查通过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365760" cy="36576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微软雅黑"/>
              </a:defRPr>
            </a:pPr>
            <a:r>
              <a:t>五大创新点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2A0"/>
                </a:solidFill>
                <a:latin typeface="微软雅黑"/>
              </a:defRPr>
            </a:pPr>
            <a:r>
              <a:t>技术特色与比赛赛题契合度分析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2A0"/>
                </a:solidFill>
                <a:latin typeface="微软雅黑"/>
              </a:defRPr>
            </a:pPr>
            <a:r>
              <a:t>10/11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9144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698480" cy="868680"/>
          </a:xfrm>
          <a:prstGeom prst="roundRect">
            <a:avLst>
              <a:gd name="adj" fmla="val 5000"/>
            </a:avLst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554480"/>
            <a:ext cx="502920" cy="502920"/>
          </a:xfrm>
          <a:prstGeom prst="ellipse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0E17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508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MCP/A2A 双重协议标准化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87451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2A0"/>
                </a:solidFill>
                <a:latin typeface="微软雅黑"/>
              </a:defRPr>
            </a:pPr>
            <a:r>
              <a:t>7 个 MCP 工具 · SSE 传输 · Windows 兼容修复 · 双协议自动降级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377440"/>
            <a:ext cx="10698480" cy="868680"/>
          </a:xfrm>
          <a:prstGeom prst="roundRect">
            <a:avLst>
              <a:gd name="adj" fmla="val 5000"/>
            </a:avLst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2560320"/>
            <a:ext cx="502920" cy="502920"/>
          </a:xfrm>
          <a:prstGeom prst="ellipse">
            <a:avLst/>
          </a:prstGeom>
          <a:solidFill>
            <a:srgbClr val="FF2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0E17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514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差异化修复策略引擎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880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2A0"/>
                </a:solidFill>
                <a:latin typeface="微软雅黑"/>
              </a:defRPr>
            </a:pPr>
            <a:r>
              <a:t>6 种故障 · primary+fallback 双层策略 · 闭环验证防"假修复"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383280"/>
            <a:ext cx="10698480" cy="868680"/>
          </a:xfrm>
          <a:prstGeom prst="roundRect">
            <a:avLst>
              <a:gd name="adj" fmla="val 5000"/>
            </a:avLst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3566160"/>
            <a:ext cx="502920" cy="502920"/>
          </a:xfrm>
          <a:prstGeom prst="ellipse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0E17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520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UCB1 Bandit 智能路由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886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2A0"/>
                </a:solidFill>
                <a:latin typeface="微软雅黑"/>
              </a:defRPr>
            </a:pPr>
            <a:r>
              <a:t>多臂老虎机在线学习 · 探索-利用平衡 · 动态权重收敛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389120"/>
            <a:ext cx="10698480" cy="868680"/>
          </a:xfrm>
          <a:prstGeom prst="roundRect">
            <a:avLst>
              <a:gd name="adj" fmla="val 5000"/>
            </a:avLst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4572000"/>
            <a:ext cx="502920" cy="502920"/>
          </a:xfrm>
          <a:prstGeom prst="ellipse">
            <a:avLst/>
          </a:prstGeom>
          <a:solidFill>
            <a:srgbClr val="FF2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0E17"/>
                </a:solidFill>
                <a:latin typeface="微软雅黑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526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LangGraph 工作流编排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892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2A0"/>
                </a:solidFill>
                <a:latin typeface="微软雅黑"/>
              </a:defRPr>
            </a:pPr>
            <a:r>
              <a:t>NL 意图解析 → 多步推理链 · 条件分支 + 错误恢复 · 优于单步 prompt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394960"/>
            <a:ext cx="10698480" cy="868680"/>
          </a:xfrm>
          <a:prstGeom prst="roundRect">
            <a:avLst>
              <a:gd name="adj" fmla="val 5000"/>
            </a:avLst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5577840"/>
            <a:ext cx="502920" cy="502920"/>
          </a:xfrm>
          <a:prstGeom prst="ellipse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0E17"/>
                </a:solidFill>
                <a:latin typeface="微软雅黑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5532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双总线 + 跨域弹性架构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58978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92A0"/>
                </a:solidFill>
                <a:latin typeface="微软雅黑"/>
              </a:defRPr>
            </a:pPr>
            <a:r>
              <a:t>MemoryBus(开发) / NATS(生产) 零配置切换 · 按域水平扩展 Agent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50684"/>
            <a:ext cx="12191695" cy="7315"/>
          </a:xfrm>
          <a:prstGeom prst="rect">
            <a:avLst/>
          </a:prstGeom>
          <a:solidFill>
            <a:srgbClr val="FF2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微软雅黑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10896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F0FF"/>
                </a:solidFill>
                <a:latin typeface="微软雅黑"/>
              </a:defRPr>
            </a:pPr>
            <a:r>
              <a:t>IoA 分布式网络运维协同平台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93192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8892A0"/>
                </a:solidFill>
                <a:latin typeface="微软雅黑"/>
              </a:defRPr>
            </a:pPr>
            <a:r>
              <a:t>B-EP1 智能体互联网创新攻关赛项</a:t>
            </a:r>
          </a:p>
          <a:p>
            <a:pPr>
              <a:spcAft>
                <a:spcPts val="600"/>
              </a:spcAft>
              <a:defRPr sz="800" b="0">
                <a:solidFill>
                  <a:srgbClr val="8892A0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555D6E"/>
                </a:solidFill>
                <a:latin typeface="微软雅黑"/>
              </a:defRPr>
            </a:pPr>
            <a:r>
              <a:t>MCP + Agent + DAG  ·  全闭环故障自愈  ·  9 Agent 集群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92A0"/>
                </a:solidFill>
                <a:latin typeface="Consolas"/>
              </a:defRPr>
            </a:pPr>
            <a:r>
              <a:t>https://github.com/xiabai2004/IoA-Platform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